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60" r:id="rId12"/>
    <p:sldId id="261" r:id="rId13"/>
    <p:sldId id="263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456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159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1371600"/>
            <a:ext cx="1097280" cy="109728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1645920"/>
            <a:ext cx="1097280" cy="109728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1920240"/>
            <a:ext cx="1097280" cy="109728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0" y="2194560"/>
            <a:ext cx="1097280" cy="1097280"/>
          </a:xfrm>
          <a:prstGeom prst="ellipse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21040" y="2468880"/>
            <a:ext cx="1097280" cy="1097280"/>
          </a:xfrm>
          <a:prstGeom prst="ellipse">
            <a:avLst/>
          </a:prstGeom>
          <a:solidFill>
            <a:srgbClr val="065A82">
              <a:alpha val="1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A127"/>
                </a:solidFill>
              </a:rPr>
              <a:t>FUELWATCH WA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Historic Fuel Price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Analysis &amp; Prediction</a:t>
            </a:r>
          </a:p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Assessment 2 — Group Project Presentation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194560" cy="36576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127"/>
                </a:solidFill>
              </a:rPr>
              <a:t>Dataset: </a:t>
            </a:r>
            <a:r>
              <a:rPr lang="en-US" sz="1200" dirty="0">
                <a:solidFill>
                  <a:srgbClr val="CADCFC"/>
                </a:solidFill>
              </a:rPr>
              <a:t>FuelWatch WA Historic Prices  |  </a:t>
            </a:r>
            <a:r>
              <a:rPr lang="en-US" sz="1200" b="1" dirty="0">
                <a:solidFill>
                  <a:srgbClr val="F4A127"/>
                </a:solidFill>
              </a:rPr>
              <a:t>Period: </a:t>
            </a:r>
            <a:r>
              <a:rPr lang="en-US" sz="1200" dirty="0">
                <a:solidFill>
                  <a:srgbClr val="CADCFC"/>
                </a:solidFill>
              </a:rPr>
              <a:t>2023–2026  |  </a:t>
            </a:r>
            <a:r>
              <a:rPr lang="en-US" sz="1200" b="1" dirty="0">
                <a:solidFill>
                  <a:srgbClr val="F4A127"/>
                </a:solidFill>
              </a:rPr>
              <a:t>Records: </a:t>
            </a:r>
            <a:r>
              <a:rPr lang="en-US" sz="1200" dirty="0">
                <a:solidFill>
                  <a:srgbClr val="CADCFC"/>
                </a:solidFill>
              </a:rPr>
              <a:t>3,314,312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  |  CDU</a:t>
            </a:r>
            <a:endParaRPr 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8FA8F7-B27F-88B7-48FB-67960241F86A}"/>
              </a:ext>
            </a:extLst>
          </p:cNvPr>
          <p:cNvSpPr txBox="1"/>
          <p:nvPr/>
        </p:nvSpPr>
        <p:spPr>
          <a:xfrm>
            <a:off x="5998254" y="2366010"/>
            <a:ext cx="259710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Member name:</a:t>
            </a:r>
          </a:p>
          <a:p>
            <a:r>
              <a:rPr lang="en-US" sz="1100" dirty="0">
                <a:solidFill>
                  <a:schemeClr val="bg1"/>
                </a:solidFill>
              </a:rPr>
              <a:t>1. Name Anasua Mazumder</a:t>
            </a:r>
          </a:p>
          <a:p>
            <a:r>
              <a:rPr lang="en-US" sz="1100" dirty="0">
                <a:solidFill>
                  <a:schemeClr val="bg1"/>
                </a:solidFill>
              </a:rPr>
              <a:t>ID: S390170</a:t>
            </a:r>
          </a:p>
          <a:p>
            <a:r>
              <a:rPr lang="en-US" sz="1100" dirty="0">
                <a:solidFill>
                  <a:schemeClr val="bg1"/>
                </a:solidFill>
              </a:rPr>
              <a:t>2. Neetu </a:t>
            </a:r>
          </a:p>
          <a:p>
            <a:r>
              <a:rPr lang="en-US" sz="1100" dirty="0">
                <a:solidFill>
                  <a:schemeClr val="bg1"/>
                </a:solidFill>
              </a:rPr>
              <a:t>ID:s392716</a:t>
            </a:r>
          </a:p>
          <a:p>
            <a:r>
              <a:rPr lang="en-US" sz="1100" dirty="0">
                <a:solidFill>
                  <a:schemeClr val="bg1"/>
                </a:solidFill>
              </a:rPr>
              <a:t>3. Nishu Rani</a:t>
            </a:r>
          </a:p>
          <a:p>
            <a:r>
              <a:rPr lang="en-US" sz="1100" dirty="0">
                <a:solidFill>
                  <a:schemeClr val="bg1"/>
                </a:solidFill>
              </a:rPr>
              <a:t>ID: s392936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19202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3.3M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68580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40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Files Merged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685800"/>
            <a:ext cx="1920240" cy="1371600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Fuel Types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685800"/>
            <a:ext cx="1920240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6656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WA Regions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Dataset Columns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850392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670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PUBLISH_DATE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6700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Date of price publication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8503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PRODUCT_PRICE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017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Fuel price in cents/litre  ← Target Variable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346704"/>
            <a:ext cx="850392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364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PRODUCT_DESCRIPTION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3649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Fuel type (ULP, Diesel, 98 RON, etc.)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94176"/>
            <a:ext cx="8503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712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REGION_DESCRIPTION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37124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WA region (Metro, Kimberley, etc.)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041648"/>
            <a:ext cx="850392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059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BRAND_DESCRIPTION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40599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Fuel brand (7-Eleven, BP, Caltex, etc.)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389120"/>
            <a:ext cx="8503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407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LOCATION / POSTCODE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0" y="44074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Station location details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Analysis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1207008" cy="24414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Collection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40 CSV files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2023–2026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FuelWatch WA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685800"/>
            <a:ext cx="1234440" cy="2441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463040"/>
            <a:ext cx="123444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Remove nulls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Drop unnamed cols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Filter outliers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146304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640080"/>
            <a:ext cx="1234440" cy="2487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468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5468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Eng.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463040"/>
            <a:ext cx="1234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Extract: Year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Month, Day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DayOfWeek, Quarter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146304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685800"/>
            <a:ext cx="1234440" cy="2441448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1772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7 visualisations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Patterns &amp; trends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Correlations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146304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685800"/>
            <a:ext cx="1207008" cy="2423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8076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Linear 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Ridge 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0" y="146304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43800" y="685800"/>
            <a:ext cx="1234440" cy="2441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4380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4380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4380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RMSE, MAE, R²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t-test comparison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Feature importance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Exploratory Data Analysis — Key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599" y="640080"/>
            <a:ext cx="4297681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54864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Price Distribution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Most prices cluster at 160–210 cents/litre. Right-skewed distribution with multiple peaks reflecting different fuel types. Peak at 180–190c.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640080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640080"/>
            <a:ext cx="54864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731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Price Over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02412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Stable ~190c Jan–Aug 2023. Spike to 215c in Sep 2023. Lowest at 183c in Sep 2024. Dramatic jump to 263c in early 2026.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072745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28600" y="2103120"/>
            <a:ext cx="54864" cy="1325880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127"/>
                </a:solidFill>
              </a:rPr>
              <a:t>Fuel Type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48716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E85: 271.8c (0.5% share)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98 RON: 205.4c (22.7%)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ULP: 184.1c (25.9% — most common)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LPG: 139.0c (cheapest, 2.4%)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103120"/>
            <a:ext cx="54864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Regional Variation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8716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Kimberley most expensive ~228c. Gascoyne ~211c. Metro cheapest ~194c. Remote areas pay 34c/L more due to transport costs.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566160"/>
            <a:ext cx="54864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Weekly Price Cycle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95020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Confirmed Australian fuel cycle: Tuesday cheapest (~188c), Wednesday most expensive (~202c). 14c difference across the week.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2" y="3566160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54864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Correlation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5020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Date features alone show weak correlation with price (–0.06 to 0.02). Confirms need for categorical features (fuel type, region, brand).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7A100E-AF73-0972-351A-657AC6D776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8" r="29114"/>
          <a:stretch>
            <a:fillRect/>
          </a:stretch>
        </p:blipFill>
        <p:spPr>
          <a:xfrm>
            <a:off x="-2285" y="10"/>
            <a:ext cx="9143999" cy="51434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55701"/>
            <a:ext cx="9143999" cy="237161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3E754-2B42-9CAC-2428-4B8ED7F820EE}"/>
              </a:ext>
            </a:extLst>
          </p:cNvPr>
          <p:cNvSpPr txBox="1"/>
          <p:nvPr/>
        </p:nvSpPr>
        <p:spPr>
          <a:xfrm>
            <a:off x="822960" y="244162"/>
            <a:ext cx="7543800" cy="26810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Price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3932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8452002" cy="150647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833A1-B36E-DCAC-9612-B553F694DA37}"/>
              </a:ext>
            </a:extLst>
          </p:cNvPr>
          <p:cNvSpPr txBox="1"/>
          <p:nvPr/>
        </p:nvSpPr>
        <p:spPr>
          <a:xfrm>
            <a:off x="542925" y="382190"/>
            <a:ext cx="5736930" cy="557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Price over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53C598-9805-EB87-033D-E2CD289CF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79" y="1557970"/>
            <a:ext cx="8076135" cy="308912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4708478"/>
            <a:ext cx="5163684" cy="435022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44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8EBC6-AD75-3E4E-7A15-7F342C61DD36}"/>
              </a:ext>
            </a:extLst>
          </p:cNvPr>
          <p:cNvSpPr txBox="1"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Fuel type impact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DBC77-2D17-793A-3EEA-3A00A092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625" y="544010"/>
            <a:ext cx="6157731" cy="408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7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A826B85-D58A-48FB-ABB8-881A5F8CC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D88-DD29-A661-0B07-564FBB060AFA}"/>
              </a:ext>
            </a:extLst>
          </p:cNvPr>
          <p:cNvSpPr txBox="1"/>
          <p:nvPr/>
        </p:nvSpPr>
        <p:spPr>
          <a:xfrm>
            <a:off x="720090" y="4064793"/>
            <a:ext cx="7703820" cy="702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Regional Variation</a:t>
            </a:r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20B579A7-44A3-4863-B4F6-E1E3D667A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090" y="742950"/>
            <a:ext cx="7703820" cy="32289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FD1D4-2DD3-CD05-68C9-160841E1AA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356"/>
          <a:stretch>
            <a:fillRect/>
          </a:stretch>
        </p:blipFill>
        <p:spPr>
          <a:xfrm>
            <a:off x="961263" y="982408"/>
            <a:ext cx="7221474" cy="275005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00564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9C2B68-4A0E-F17E-639E-705FEDBDBFC0}"/>
              </a:ext>
            </a:extLst>
          </p:cNvPr>
          <p:cNvSpPr txBox="1"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Weekly price 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8A847-0715-35E8-A398-D40E3CE07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947" y="553453"/>
            <a:ext cx="6268453" cy="415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37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6591E7-15A9-7EA7-3724-95C01704FB67}"/>
              </a:ext>
            </a:extLst>
          </p:cNvPr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</a:rPr>
              <a:t>Correlation Analysis</a:t>
            </a:r>
            <a:endParaRPr lang="en-US" sz="3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35EAA7-D9E9-E6B9-5EEB-E4DE1BFED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647894"/>
            <a:ext cx="5419311" cy="384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3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Regression Models — Justification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12801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64008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0698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731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Linear 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698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✔ Why chosen: Baseline model to establish minimum performance benchmark. Simple, interpretable, and fast to train on 3.3M records.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⚠ Limitation: Assumes linear relationships — cannot capture fuel price cycles or sudden spikes.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075688"/>
            <a:ext cx="8686800" cy="12801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2075688"/>
            <a:ext cx="64008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24871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</a:rPr>
              <a:t>Ridge Regression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4871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✔ Why chosen: Extends linear regression with L2 regularisation. Reduces overfitting and handles multicollinearity between Month/Quarter features.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⚠ Limitation: Still assumes linearity — regularisation alone cannot model non-linear price behaviour.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93008"/>
            <a:ext cx="8686800" cy="12801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3493008"/>
            <a:ext cx="640080" cy="1280160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39044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127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90448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✔ Why chosen: Ensemble of 100 decision trees. Captures non-linear price patterns, fuel cycles, and sudden spikes (like the 2026 surge).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343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⚠ Limitation: Less interpretable than linear models. Longer training time on large datasets.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Evaluation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5603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59436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594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RMSE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59436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0" y="594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594360"/>
            <a:ext cx="1645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594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R²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594360"/>
            <a:ext cx="13716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594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Verdict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941832"/>
            <a:ext cx="2560320" cy="3657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941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Linear Regression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941832"/>
            <a:ext cx="1188720" cy="3657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9418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23.437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941832"/>
            <a:ext cx="1188720" cy="3657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0" y="9418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16.512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941832"/>
            <a:ext cx="1645920" cy="3657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9418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0.0806 (8%)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941832"/>
            <a:ext cx="1371600" cy="3657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9418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❌ Poor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32588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Ridge Regression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13258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3464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23.437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23360" y="13258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2336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16.512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13258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0" y="1325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0.0806 (8%)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132588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❌ Poor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1709928"/>
            <a:ext cx="2560320" cy="365760"/>
          </a:xfrm>
          <a:prstGeom prst="rect">
            <a:avLst/>
          </a:prstGeom>
          <a:solidFill>
            <a:srgbClr val="E6F9EE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1709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34640" y="1709928"/>
            <a:ext cx="1188720" cy="365760"/>
          </a:xfrm>
          <a:prstGeom prst="rect">
            <a:avLst/>
          </a:prstGeom>
          <a:solidFill>
            <a:srgbClr val="E6F9EE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834640" y="17099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6.901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023360" y="1709928"/>
            <a:ext cx="1188720" cy="365760"/>
          </a:xfrm>
          <a:prstGeom prst="rect">
            <a:avLst/>
          </a:prstGeom>
          <a:solidFill>
            <a:srgbClr val="E6F9EE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023360" y="17099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4.342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1709928"/>
            <a:ext cx="1645920" cy="365760"/>
          </a:xfrm>
          <a:prstGeom prst="rect">
            <a:avLst/>
          </a:prstGeom>
          <a:solidFill>
            <a:srgbClr val="E6F9EE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12080" y="17099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0.9203 (92%)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1709928"/>
            <a:ext cx="1371600" cy="365760"/>
          </a:xfrm>
          <a:prstGeom prst="rect">
            <a:avLst/>
          </a:prstGeom>
          <a:solidFill>
            <a:srgbClr val="E6F9EE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0" y="17099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✅ Excellent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148840"/>
            <a:ext cx="859536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Statistical Test: Independent t-test (Linear vs Random Forest)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t-statistic = 0.6629   |   p-value = 0.507   |   Result: p &gt; 0.05 → No significant difference between Linear &amp; Ridge  →  Both perform equally poorly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Feature Importance (Random Forest)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508760" y="350215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508760" y="3502152"/>
            <a:ext cx="20711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34747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FUEL TYPE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34747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30.2%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508760" y="368503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508760" y="3685032"/>
            <a:ext cx="1858518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74320" y="3657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MONTH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503920" y="3657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</a:rPr>
              <a:t>27.1%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508760" y="386791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508760" y="3867912"/>
            <a:ext cx="795528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" y="3840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YEAR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503920" y="3840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11.6%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508760" y="405079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508760" y="4050792"/>
            <a:ext cx="747522" cy="128016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REGION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503920" y="40233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127"/>
                </a:solidFill>
              </a:rPr>
              <a:t>10.9%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508760" y="423367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508760" y="4233672"/>
            <a:ext cx="459486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74320" y="4206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BRAND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503920" y="42062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6.7%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508760" y="441655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508760" y="4416552"/>
            <a:ext cx="418338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74320" y="4389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DAY OF WEEK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503920" y="43891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6.1%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508760" y="459943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508760" y="4599432"/>
            <a:ext cx="37719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4572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DAY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503920" y="45720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5.5%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508760" y="478231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508760" y="4782312"/>
            <a:ext cx="13030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74320" y="47548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QUARTER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503920" y="47548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1.9%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Limitations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127"/>
                </a:solidFill>
              </a:rPr>
              <a:t>⚠ 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Dataset limited to Western Australia only — may not generalise nationally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No external features used (crude oil prices, AUD exchange rate, inflation)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2026 price spike may represent data anomaly affecting model training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151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Random Forest is less interpretable than linear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Real-time prediction would require live data pipeline integration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127"/>
                </a:solidFill>
              </a:rPr>
              <a:t>✅  Conclusion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Random Forest achieved 92% accuracy — best model for fuel price prediction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847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Fuel type &amp; month are the strongest price predictors (57% combined importance)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2311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EDA confirmed the well-known Australian weekly fuel price cycle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6151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Regional pricing inequity identified: remote communities pay 34c/L more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Future work: integrate global oil prices and real-time prediction pipeline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Thank You  |  Questions Welcome  |  PRT564 Assessment 2 — CDU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487ABC-C15C-DF91-613A-C5480837F5E1}"/>
              </a:ext>
            </a:extLst>
          </p:cNvPr>
          <p:cNvSpPr/>
          <p:nvPr/>
        </p:nvSpPr>
        <p:spPr>
          <a:xfrm>
            <a:off x="-1" y="0"/>
            <a:ext cx="9049407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b="1">
                <a:solidFill>
                  <a:srgbClr val="FFFFFF"/>
                </a:solidFill>
              </a:rPr>
              <a:t>Team Contributions</a:t>
            </a:r>
            <a:endParaRPr lang="en-US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958A761-D610-35D6-E798-DA958B8E07F9}"/>
              </a:ext>
            </a:extLst>
          </p:cNvPr>
          <p:cNvSpPr/>
          <p:nvPr/>
        </p:nvSpPr>
        <p:spPr>
          <a:xfrm>
            <a:off x="85725" y="839646"/>
            <a:ext cx="27432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Anasua</a:t>
            </a:r>
            <a:r>
              <a:rPr lang="en-US" dirty="0"/>
              <a:t> 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9CF5559E-205A-CCD3-22BA-029E98AE6F53}"/>
              </a:ext>
            </a:extLst>
          </p:cNvPr>
          <p:cNvSpPr/>
          <p:nvPr/>
        </p:nvSpPr>
        <p:spPr>
          <a:xfrm>
            <a:off x="85725" y="1588902"/>
            <a:ext cx="2743200" cy="566928"/>
          </a:xfrm>
          <a:prstGeom prst="rect">
            <a:avLst/>
          </a:prstGeom>
          <a:solidFill>
            <a:srgbClr val="EAF4FB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rgbClr val="065A82"/>
                </a:solidFill>
              </a:rPr>
              <a:t>Data Preprocessing,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065A82"/>
                </a:solidFill>
              </a:rPr>
              <a:t>Feature Engineering &amp; EDA</a:t>
            </a:r>
            <a:endParaRPr lang="en-US" sz="1400" dirty="0"/>
          </a:p>
          <a:p>
            <a:endParaRPr 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353C2A2-D880-2CB5-B219-264B108CE84A}"/>
              </a:ext>
            </a:extLst>
          </p:cNvPr>
          <p:cNvSpPr/>
          <p:nvPr/>
        </p:nvSpPr>
        <p:spPr>
          <a:xfrm>
            <a:off x="85724" y="2173566"/>
            <a:ext cx="2743200" cy="2272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Merged 40 CSV files into one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Cleaned data — removed nulls &amp; outliers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Extracted 5 features from PUBLISH_DATE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Encoded categorical columns (Fuel, Region, Brand)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Created all 7 EDA visualizations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Identified Australian fuel price cycle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7" name="Shape 22">
            <a:extLst>
              <a:ext uri="{FF2B5EF4-FFF2-40B4-BE49-F238E27FC236}">
                <a16:creationId xmlns:a16="http://schemas.microsoft.com/office/drawing/2014/main" id="{7A0724C4-F7B4-E9E9-7A54-0E15ABE930BF}"/>
              </a:ext>
            </a:extLst>
          </p:cNvPr>
          <p:cNvSpPr/>
          <p:nvPr/>
        </p:nvSpPr>
        <p:spPr>
          <a:xfrm>
            <a:off x="3153102" y="839646"/>
            <a:ext cx="274320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Neetu</a:t>
            </a:r>
            <a:endParaRPr lang="en-US" dirty="0"/>
          </a:p>
        </p:txBody>
      </p:sp>
      <p:sp>
        <p:nvSpPr>
          <p:cNvPr id="8" name="Shape 25">
            <a:extLst>
              <a:ext uri="{FF2B5EF4-FFF2-40B4-BE49-F238E27FC236}">
                <a16:creationId xmlns:a16="http://schemas.microsoft.com/office/drawing/2014/main" id="{E944F52B-83C4-9D77-2DCA-8B26B00DC40B}"/>
              </a:ext>
            </a:extLst>
          </p:cNvPr>
          <p:cNvSpPr/>
          <p:nvPr/>
        </p:nvSpPr>
        <p:spPr>
          <a:xfrm>
            <a:off x="3153101" y="1571166"/>
            <a:ext cx="2743199" cy="566928"/>
          </a:xfrm>
          <a:prstGeom prst="rect">
            <a:avLst/>
          </a:prstGeom>
          <a:solidFill>
            <a:srgbClr val="EAF4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b="1" dirty="0">
                <a:solidFill>
                  <a:srgbClr val="1C7293"/>
                </a:solidFill>
              </a:rPr>
              <a:t>Regression Modelling</a:t>
            </a:r>
            <a:endParaRPr lang="en-US" sz="1600" dirty="0"/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54182F96-5213-934A-CDD9-782D1CB0A600}"/>
              </a:ext>
            </a:extLst>
          </p:cNvPr>
          <p:cNvSpPr/>
          <p:nvPr/>
        </p:nvSpPr>
        <p:spPr>
          <a:xfrm>
            <a:off x="3153100" y="2155830"/>
            <a:ext cx="2743200" cy="2272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Implemented Linear Regression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Implemented Ridge Regression model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Implemented Random Forest (100 trees)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Performed 80/20 train-test split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Justified model selection decisions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Documented Python code with comments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10" name="Shape 40">
            <a:extLst>
              <a:ext uri="{FF2B5EF4-FFF2-40B4-BE49-F238E27FC236}">
                <a16:creationId xmlns:a16="http://schemas.microsoft.com/office/drawing/2014/main" id="{057731B1-FB4C-BC5C-FD6A-F576CD5567F0}"/>
              </a:ext>
            </a:extLst>
          </p:cNvPr>
          <p:cNvSpPr/>
          <p:nvPr/>
        </p:nvSpPr>
        <p:spPr>
          <a:xfrm>
            <a:off x="6132786" y="839646"/>
            <a:ext cx="27432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Nishu</a:t>
            </a:r>
          </a:p>
        </p:txBody>
      </p:sp>
      <p:sp>
        <p:nvSpPr>
          <p:cNvPr id="12" name="Shape 43">
            <a:extLst>
              <a:ext uri="{FF2B5EF4-FFF2-40B4-BE49-F238E27FC236}">
                <a16:creationId xmlns:a16="http://schemas.microsoft.com/office/drawing/2014/main" id="{E82208D5-14AC-CB2C-DE04-774E14319C7B}"/>
              </a:ext>
            </a:extLst>
          </p:cNvPr>
          <p:cNvSpPr/>
          <p:nvPr/>
        </p:nvSpPr>
        <p:spPr>
          <a:xfrm>
            <a:off x="6132786" y="1571166"/>
            <a:ext cx="2743199" cy="566928"/>
          </a:xfrm>
          <a:prstGeom prst="rect">
            <a:avLst/>
          </a:prstGeom>
          <a:solidFill>
            <a:srgbClr val="EAF4F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rgbClr val="7C3AED"/>
                </a:solidFill>
              </a:rPr>
              <a:t>Model Evaluation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7C3AED"/>
                </a:solidFill>
              </a:rPr>
              <a:t>&amp; Conclusion</a:t>
            </a:r>
            <a:endParaRPr lang="en-US" sz="1400" dirty="0"/>
          </a:p>
        </p:txBody>
      </p:sp>
      <p:sp>
        <p:nvSpPr>
          <p:cNvPr id="13" name="Shape 39">
            <a:extLst>
              <a:ext uri="{FF2B5EF4-FFF2-40B4-BE49-F238E27FC236}">
                <a16:creationId xmlns:a16="http://schemas.microsoft.com/office/drawing/2014/main" id="{B5816C15-3C61-7CFF-14AD-2FC55F9DD977}"/>
              </a:ext>
            </a:extLst>
          </p:cNvPr>
          <p:cNvSpPr/>
          <p:nvPr/>
        </p:nvSpPr>
        <p:spPr>
          <a:xfrm>
            <a:off x="6132786" y="2184077"/>
            <a:ext cx="2743200" cy="2272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Calculated RMSE, MAE and R² for all 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Conducted independent t-test comparison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1E293B"/>
                </a:solidFill>
              </a:rPr>
              <a:t>Analysed</a:t>
            </a:r>
            <a:r>
              <a:rPr lang="en-US" sz="1200" dirty="0">
                <a:solidFill>
                  <a:srgbClr val="1E293B"/>
                </a:solidFill>
              </a:rPr>
              <a:t> feature importance scores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Created Actual vs Predicted plots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Interpreted findings for non-technical audience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Prepared limitations and future recommendations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5517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2494</TotalTime>
  <Words>923</Words>
  <Application>Microsoft Office PowerPoint</Application>
  <PresentationFormat>On-screen Show (16:9)</PresentationFormat>
  <Paragraphs>194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FuelWatch WA Price Analysis</dc:title>
  <dc:subject>PptxGenJS Presentation</dc:subject>
  <dc:creator>PptxGenJS</dc:creator>
  <cp:lastModifiedBy>Anasua Mazumder</cp:lastModifiedBy>
  <cp:revision>5</cp:revision>
  <dcterms:created xsi:type="dcterms:W3CDTF">2026-04-19T01:48:52Z</dcterms:created>
  <dcterms:modified xsi:type="dcterms:W3CDTF">2026-04-22T09:05:19Z</dcterms:modified>
</cp:coreProperties>
</file>