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4" r:id="rId6"/>
    <p:sldId id="265" r:id="rId7"/>
    <p:sldId id="266" r:id="rId8"/>
    <p:sldId id="267" r:id="rId9"/>
    <p:sldId id="268" r:id="rId10"/>
    <p:sldId id="269" r:id="rId11"/>
    <p:sldId id="260" r:id="rId12"/>
    <p:sldId id="261" r:id="rId13"/>
    <p:sldId id="263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5" autoAdjust="0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2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1159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127"/>
          </a:solidFill>
          <a:ln w="12700">
            <a:solidFill>
              <a:srgbClr val="F4A1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1371600"/>
            <a:ext cx="1097280" cy="1097280"/>
          </a:xfrm>
          <a:prstGeom prst="ellipse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223760" y="1645920"/>
            <a:ext cx="1097280" cy="1097280"/>
          </a:xfrm>
          <a:prstGeom prst="ellipse">
            <a:avLst/>
          </a:prstGeom>
          <a:solidFill>
            <a:srgbClr val="065A82">
              <a:alpha val="25000"/>
            </a:srgbClr>
          </a:solidFill>
          <a:ln w="12700">
            <a:solidFill>
              <a:srgbClr val="065A8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589520" y="1920240"/>
            <a:ext cx="1097280" cy="1097280"/>
          </a:xfrm>
          <a:prstGeom prst="ellipse">
            <a:avLst/>
          </a:prstGeom>
          <a:solidFill>
            <a:srgbClr val="065A82">
              <a:alpha val="20000"/>
            </a:srgbClr>
          </a:solidFill>
          <a:ln w="12700">
            <a:solidFill>
              <a:srgbClr val="065A8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955280" y="2194560"/>
            <a:ext cx="1097280" cy="1097280"/>
          </a:xfrm>
          <a:prstGeom prst="ellipse">
            <a:avLst/>
          </a:prstGeom>
          <a:solidFill>
            <a:srgbClr val="065A82">
              <a:alpha val="15000"/>
            </a:srgbClr>
          </a:solidFill>
          <a:ln w="12700">
            <a:solidFill>
              <a:srgbClr val="065A8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321040" y="2468880"/>
            <a:ext cx="1097280" cy="1097280"/>
          </a:xfrm>
          <a:prstGeom prst="ellipse">
            <a:avLst/>
          </a:prstGeom>
          <a:solidFill>
            <a:srgbClr val="065A82">
              <a:alpha val="10000"/>
            </a:srgbClr>
          </a:solidFill>
          <a:ln w="12700">
            <a:solidFill>
              <a:srgbClr val="065A8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F4A127"/>
                </a:solidFill>
              </a:rPr>
              <a:t>FUELWATCH WA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28016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</a:rPr>
              <a:t>Historic Fuel Price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</a:rPr>
              <a:t>Analysis &amp; Prediction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</a:rPr>
              <a:t>Assessment 2 — Group Project Presentation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2194560" cy="36576"/>
          </a:xfrm>
          <a:prstGeom prst="rect">
            <a:avLst/>
          </a:prstGeom>
          <a:solidFill>
            <a:srgbClr val="F4A127"/>
          </a:solidFill>
          <a:ln w="12700">
            <a:solidFill>
              <a:srgbClr val="F4A1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127"/>
                </a:solidFill>
              </a:rPr>
              <a:t>Dataset: </a:t>
            </a:r>
            <a:r>
              <a:rPr lang="en-US" sz="1200" dirty="0">
                <a:solidFill>
                  <a:srgbClr val="CADCFC"/>
                </a:solidFill>
              </a:rPr>
              <a:t>FuelWatch WA Historic Prices  |  </a:t>
            </a:r>
            <a:r>
              <a:rPr lang="en-US" sz="1200" b="1" dirty="0">
                <a:solidFill>
                  <a:srgbClr val="F4A127"/>
                </a:solidFill>
              </a:rPr>
              <a:t>Period: </a:t>
            </a:r>
            <a:r>
              <a:rPr lang="en-US" sz="1200" dirty="0">
                <a:solidFill>
                  <a:srgbClr val="CADCFC"/>
                </a:solidFill>
              </a:rPr>
              <a:t>2023–2026  |  </a:t>
            </a:r>
            <a:r>
              <a:rPr lang="en-US" sz="1200" b="1" dirty="0">
                <a:solidFill>
                  <a:srgbClr val="F4A127"/>
                </a:solidFill>
              </a:rPr>
              <a:t>Records: </a:t>
            </a:r>
            <a:r>
              <a:rPr lang="en-US" sz="1200" dirty="0">
                <a:solidFill>
                  <a:srgbClr val="CADCFC"/>
                </a:solidFill>
              </a:rPr>
              <a:t>3,314,312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PRT564 Data Analytics &amp; Visualisation  |  CDU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Dataset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685800"/>
            <a:ext cx="1920240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3.3M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20040" y="1463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Total Records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685800"/>
            <a:ext cx="192024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468880" y="7772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40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468880" y="1463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Files Merged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685800"/>
            <a:ext cx="1920240" cy="1371600"/>
          </a:xfrm>
          <a:prstGeom prst="rect">
            <a:avLst/>
          </a:prstGeom>
          <a:solidFill>
            <a:srgbClr val="F4A127"/>
          </a:solidFill>
          <a:ln w="12700">
            <a:solidFill>
              <a:srgbClr val="F4A12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17720" y="7772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7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617720" y="1463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Fuel Types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0" y="685800"/>
            <a:ext cx="1920240" cy="1371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766560" y="7772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10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766560" y="1463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WA Regions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240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Key Dataset Columns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0040" y="2651760"/>
            <a:ext cx="8503920" cy="329184"/>
          </a:xfrm>
          <a:prstGeom prst="rect">
            <a:avLst/>
          </a:prstGeom>
          <a:solidFill>
            <a:srgbClr val="EAF4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" y="26700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PUBLISH_DATE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0" y="26700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Date of price publication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999232"/>
            <a:ext cx="85039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1480" y="3017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PRODUCT_PRICE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0" y="30175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Fuel price in cents/litre  ← Target Variable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3346704"/>
            <a:ext cx="8503920" cy="329184"/>
          </a:xfrm>
          <a:prstGeom prst="rect">
            <a:avLst/>
          </a:prstGeom>
          <a:solidFill>
            <a:srgbClr val="EAF4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" y="33649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PRODUCT_DESCRIPTION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0" y="336499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Fuel type (ULP, Diesel, 98 RON, etc.)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3694176"/>
            <a:ext cx="85039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1480" y="371246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REGION_DESCRIPTION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0" y="371246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WA region (Metro, Kimberley, etc.)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4041648"/>
            <a:ext cx="8503920" cy="329184"/>
          </a:xfrm>
          <a:prstGeom prst="rect">
            <a:avLst/>
          </a:prstGeom>
          <a:solidFill>
            <a:srgbClr val="EAF4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11480" y="40599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BRAND_DESCRIPTION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743200" y="405993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Fuel brand (7-Eleven, BP, Caltex, etc.)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" y="4389120"/>
            <a:ext cx="85039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11480" y="44074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LOCATION / POSTCODE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743200" y="440740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Station location details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PRT564 Data Analytics &amp; Visualisation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 Analysis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685800"/>
            <a:ext cx="1207008" cy="24414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713232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" y="109728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 Collection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146304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40 CSV files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2023–2026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FuelWatch WA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463040" y="1463040"/>
            <a:ext cx="201168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691640" y="685800"/>
            <a:ext cx="1234440" cy="24414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691640" y="713232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91640" y="109728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Preprocessing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91640" y="1463040"/>
            <a:ext cx="1234440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Remove nulls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Drop unnamed cols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Filter outliers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926080" y="1463040"/>
            <a:ext cx="201168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154680" y="640080"/>
            <a:ext cx="1234440" cy="2487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154680" y="713232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154680" y="109728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Feature Eng.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154680" y="1463040"/>
            <a:ext cx="1234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Extract: Year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Month, Day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DayOfWeek, Quarter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389120" y="1463040"/>
            <a:ext cx="201168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17720" y="685800"/>
            <a:ext cx="1234440" cy="2441448"/>
          </a:xfrm>
          <a:prstGeom prst="rect">
            <a:avLst/>
          </a:prstGeom>
          <a:solidFill>
            <a:srgbClr val="F4A127"/>
          </a:solidFill>
          <a:ln w="12700">
            <a:solidFill>
              <a:srgbClr val="F4A127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17720" y="713232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617720" y="109728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EDA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17720" y="146304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7 visualisations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Patterns &amp; trends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Correlations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852160" y="1463040"/>
            <a:ext cx="201168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080760" y="685800"/>
            <a:ext cx="1207008" cy="24231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080760" y="713232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080760" y="109728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Modelling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80760" y="146304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Linear Regression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Ridge Regression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Random Forest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315200" y="1463040"/>
            <a:ext cx="201168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543800" y="685800"/>
            <a:ext cx="1234440" cy="24414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543800" y="713232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6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543800" y="109728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Evaluation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543800" y="146304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RMSE, MAE, R²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t-test comparison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Feature importance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PRT564 Data Analytics &amp; Visualisation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Exploratory Data Analysis — Key Findings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599" y="640080"/>
            <a:ext cx="4297681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640080"/>
            <a:ext cx="54864" cy="1325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7315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Price Distribution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024128"/>
            <a:ext cx="4069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Most prices cluster at 160–210 cents/litre. Right-skewed distribution with multiple peaks reflecting different fuel types. Peak at 180–190c.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640080"/>
            <a:ext cx="42976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09160" y="640080"/>
            <a:ext cx="54864" cy="1325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7315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Price Over Time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024128"/>
            <a:ext cx="4069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Stable ~190c Jan–Aug 2023. Spike to 215c in Sep 2023. Lowest at 183c in Sep 2024. Dramatic jump to 263c in early 2026.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2880" y="2072745"/>
            <a:ext cx="42976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28600" y="2103120"/>
            <a:ext cx="54864" cy="1325880"/>
          </a:xfrm>
          <a:prstGeom prst="rect">
            <a:avLst/>
          </a:prstGeom>
          <a:solidFill>
            <a:srgbClr val="F4A127"/>
          </a:solidFill>
          <a:ln w="12700">
            <a:solidFill>
              <a:srgbClr val="F4A1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21945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127"/>
                </a:solidFill>
              </a:rPr>
              <a:t>Fuel Type Impact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2487168"/>
            <a:ext cx="4069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E85: 271.8c (0.5% share)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98 RON: 205.4c (22.7%)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ULP: 184.1c (25.9% — most common)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LPG: 139.0c (cheapest, 2.4%)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2103120"/>
            <a:ext cx="42976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09160" y="2103120"/>
            <a:ext cx="54864" cy="13258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46320" y="21945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</a:rPr>
              <a:t>Regional Variation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2487168"/>
            <a:ext cx="4069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Kimberley most expensive ~228c. Gascoyne ~211c. Metro cheapest ~194c. Remote areas pay 34c/L more due to transport costs.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3566160"/>
            <a:ext cx="42976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28600" y="3566160"/>
            <a:ext cx="54864" cy="1325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36576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</a:rPr>
              <a:t>Weekly Price Cycle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3950208"/>
            <a:ext cx="4069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Confirmed Australian fuel cycle: Tuesday cheapest (~188c), Wednesday most expensive (~202c). 14c difference across the week.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17722" y="3566160"/>
            <a:ext cx="42976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709160" y="3566160"/>
            <a:ext cx="54864" cy="1325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46320" y="36576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Correlation Analysis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3950208"/>
            <a:ext cx="4069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Date features alone show weak correlation with price (–0.06 to 0.02). Confirms need for categorical features (fuel type, region, brand).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PRT564 Data Analytics &amp; Visualisation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7A100E-AF73-0972-351A-657AC6D776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8" r="29114"/>
          <a:stretch>
            <a:fillRect/>
          </a:stretch>
        </p:blipFill>
        <p:spPr>
          <a:xfrm>
            <a:off x="-2285" y="10"/>
            <a:ext cx="9143999" cy="5143490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55701"/>
            <a:ext cx="9143999" cy="237161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93E754-2B42-9CAC-2428-4B8ED7F820EE}"/>
              </a:ext>
            </a:extLst>
          </p:cNvPr>
          <p:cNvSpPr txBox="1"/>
          <p:nvPr/>
        </p:nvSpPr>
        <p:spPr>
          <a:xfrm>
            <a:off x="822960" y="244162"/>
            <a:ext cx="7543800" cy="268108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9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Price Distribution</a:t>
            </a:r>
          </a:p>
        </p:txBody>
      </p:sp>
    </p:spTree>
    <p:extLst>
      <p:ext uri="{BB962C8B-B14F-4D97-AF65-F5344CB8AC3E}">
        <p14:creationId xmlns:p14="http://schemas.microsoft.com/office/powerpoint/2010/main" val="3439320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914257E-1E2A-4AC7-89EC-1FB65C9C0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3E1C8F1-97F5-489C-8308-958F09657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8452002" cy="150647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E833A1-B36E-DCAC-9612-B553F694DA37}"/>
              </a:ext>
            </a:extLst>
          </p:cNvPr>
          <p:cNvSpPr txBox="1"/>
          <p:nvPr/>
        </p:nvSpPr>
        <p:spPr>
          <a:xfrm>
            <a:off x="542925" y="382190"/>
            <a:ext cx="5736930" cy="5572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Price over Time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53C598-9805-EB87-033D-E2CD289CF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479" y="1557970"/>
            <a:ext cx="8076135" cy="3089120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EB62645-D4DA-4E99-8344-B1536F63D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80316" y="4708478"/>
            <a:ext cx="5163684" cy="435022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544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510167" cy="51435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88EBC6-AD75-3E4E-7A15-7F342C61DD36}"/>
              </a:ext>
            </a:extLst>
          </p:cNvPr>
          <p:cNvSpPr txBox="1"/>
          <p:nvPr/>
        </p:nvSpPr>
        <p:spPr>
          <a:xfrm>
            <a:off x="480060" y="1555772"/>
            <a:ext cx="2064265" cy="2031956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Fuel type impact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DDBC77-2D17-793A-3EEA-3A00A092B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625" y="544010"/>
            <a:ext cx="6157731" cy="4085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079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3A826B85-D58A-48FB-ABB8-881A5F8CC2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4D2D88-DD29-A661-0B07-564FBB060AFA}"/>
              </a:ext>
            </a:extLst>
          </p:cNvPr>
          <p:cNvSpPr txBox="1"/>
          <p:nvPr/>
        </p:nvSpPr>
        <p:spPr>
          <a:xfrm>
            <a:off x="720090" y="4064793"/>
            <a:ext cx="7703820" cy="7024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Regional Variation</a:t>
            </a:r>
          </a:p>
        </p:txBody>
      </p:sp>
      <p:sp>
        <p:nvSpPr>
          <p:cNvPr id="31" name="Rounded Rectangle 5">
            <a:extLst>
              <a:ext uri="{FF2B5EF4-FFF2-40B4-BE49-F238E27FC236}">
                <a16:creationId xmlns:a16="http://schemas.microsoft.com/office/drawing/2014/main" id="{20B579A7-44A3-4863-B4F6-E1E3D667A5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090" y="742950"/>
            <a:ext cx="7703820" cy="32289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EFD1D4-2DD3-CD05-68C9-160841E1AA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" b="2356"/>
          <a:stretch>
            <a:fillRect/>
          </a:stretch>
        </p:blipFill>
        <p:spPr>
          <a:xfrm>
            <a:off x="961263" y="982408"/>
            <a:ext cx="7221474" cy="275005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100564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510167" cy="5143500"/>
          </a:xfrm>
          <a:prstGeom prst="rect">
            <a:avLst/>
          </a:prstGeom>
          <a:solidFill>
            <a:srgbClr val="5B6B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9C2B68-4A0E-F17E-639E-705FEDBDBFC0}"/>
              </a:ext>
            </a:extLst>
          </p:cNvPr>
          <p:cNvSpPr txBox="1"/>
          <p:nvPr/>
        </p:nvSpPr>
        <p:spPr>
          <a:xfrm>
            <a:off x="480060" y="1555772"/>
            <a:ext cx="2064265" cy="2031956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Weekly price Cycle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E8A847-0715-35E8-A398-D40E3CE07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6947" y="553453"/>
            <a:ext cx="6268453" cy="4150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7374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63154" y="1063154"/>
            <a:ext cx="5156864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8871" y="1995355"/>
            <a:ext cx="3266696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885662" y="1228564"/>
            <a:ext cx="5143179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560516" y="900984"/>
            <a:ext cx="3606227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6591E7-15A9-7EA7-3724-95C01704FB67}"/>
              </a:ext>
            </a:extLst>
          </p:cNvPr>
          <p:cNvSpPr txBox="1"/>
          <p:nvPr/>
        </p:nvSpPr>
        <p:spPr>
          <a:xfrm>
            <a:off x="495030" y="2075329"/>
            <a:ext cx="2160621" cy="23039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dirty="0">
                <a:solidFill>
                  <a:schemeClr val="bg1"/>
                </a:solidFill>
              </a:rPr>
              <a:t>Correlation Analysis</a:t>
            </a:r>
            <a:endParaRPr lang="en-US" sz="32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0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435EAA7-D9E9-E6B9-5EEB-E4DE1BFED9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6821" y="647894"/>
            <a:ext cx="5419311" cy="3847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930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Regression Models — Justification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658368"/>
            <a:ext cx="8686800" cy="1280160"/>
          </a:xfrm>
          <a:prstGeom prst="rect">
            <a:avLst/>
          </a:prstGeom>
          <a:solidFill>
            <a:srgbClr val="EAF4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658368"/>
            <a:ext cx="640080" cy="1280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106984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7315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</a:rPr>
              <a:t>Linear Regression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06984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✔ Why chosen: Baseline model to establish minimum performance benchmark. Simple, interpretable, and fast to train on 3.3M records.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15087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⚠ Limitation: Assumes linear relationships — cannot capture fuel price cycles or sudden spikes.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2075688"/>
            <a:ext cx="8686800" cy="1280160"/>
          </a:xfrm>
          <a:prstGeom prst="rect">
            <a:avLst/>
          </a:prstGeom>
          <a:solidFill>
            <a:srgbClr val="EAF4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28600" y="2075688"/>
            <a:ext cx="640080" cy="12801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28600" y="24871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21488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</a:rPr>
              <a:t>Ridge Regression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48716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✔ Why chosen: Extends linear regression with L2 regularisation. Reduces overfitting and handles multicollinearity between Month/Quarter features.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05840" y="29260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⚠ Limitation: Still assumes linearity — regularisation alone cannot model non-linear price behaviour.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3493008"/>
            <a:ext cx="8686800" cy="1280160"/>
          </a:xfrm>
          <a:prstGeom prst="rect">
            <a:avLst/>
          </a:prstGeom>
          <a:solidFill>
            <a:srgbClr val="EAF4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28600" y="3493008"/>
            <a:ext cx="640080" cy="1280160"/>
          </a:xfrm>
          <a:prstGeom prst="rect">
            <a:avLst/>
          </a:prstGeom>
          <a:solidFill>
            <a:srgbClr val="F4A127"/>
          </a:solidFill>
          <a:ln w="12700">
            <a:solidFill>
              <a:srgbClr val="F4A1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28600" y="390448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35661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127"/>
                </a:solidFill>
              </a:rPr>
              <a:t>Random Forest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390448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✔ Why chosen: Ensemble of 100 decision trees. Captures non-linear price patterns, fuel cycles, and sudden spikes (like the 2026 surge).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05840" y="43434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⚠ Limitation: Less interpretable than linear models. Longer training time on large datasets.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PRT564 Data Analytics &amp; Visualisation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Model Evaluation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256032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Model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834640" y="594360"/>
            <a:ext cx="118872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834640" y="59436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RMSE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23360" y="594360"/>
            <a:ext cx="118872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023360" y="59436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MAE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212080" y="594360"/>
            <a:ext cx="164592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212080" y="59436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R² Score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0" y="594360"/>
            <a:ext cx="137160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0" y="5943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Verdict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941832"/>
            <a:ext cx="2560320" cy="365760"/>
          </a:xfrm>
          <a:prstGeom prst="rect">
            <a:avLst/>
          </a:prstGeom>
          <a:solidFill>
            <a:srgbClr val="EAF4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" y="9418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Linear Regression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834640" y="941832"/>
            <a:ext cx="1188720" cy="365760"/>
          </a:xfrm>
          <a:prstGeom prst="rect">
            <a:avLst/>
          </a:prstGeom>
          <a:solidFill>
            <a:srgbClr val="EAF4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834640" y="94183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23.437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023360" y="941832"/>
            <a:ext cx="1188720" cy="365760"/>
          </a:xfrm>
          <a:prstGeom prst="rect">
            <a:avLst/>
          </a:prstGeom>
          <a:solidFill>
            <a:srgbClr val="EAF4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023360" y="94183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16.512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212080" y="941832"/>
            <a:ext cx="1645920" cy="365760"/>
          </a:xfrm>
          <a:prstGeom prst="rect">
            <a:avLst/>
          </a:prstGeom>
          <a:solidFill>
            <a:srgbClr val="EAF4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212080" y="94183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0.0806 (8%)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0" y="941832"/>
            <a:ext cx="1371600" cy="365760"/>
          </a:xfrm>
          <a:prstGeom prst="rect">
            <a:avLst/>
          </a:prstGeom>
          <a:solidFill>
            <a:srgbClr val="EAF4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58000" y="94183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❌ Poor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1325880"/>
            <a:ext cx="25603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" y="1325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Ridge Regression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834640" y="1325880"/>
            <a:ext cx="11887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834640" y="13258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23.437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023360" y="1325880"/>
            <a:ext cx="11887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023360" y="13258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16.512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212080" y="1325880"/>
            <a:ext cx="1645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212080" y="1325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0.0806 (8%)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58000" y="1325880"/>
            <a:ext cx="1371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858000" y="1325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❌ Poor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1709928"/>
            <a:ext cx="2560320" cy="365760"/>
          </a:xfrm>
          <a:prstGeom prst="rect">
            <a:avLst/>
          </a:prstGeom>
          <a:solidFill>
            <a:srgbClr val="E6F9EE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74320" y="17099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</a:rPr>
              <a:t>Random Forest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834640" y="1709928"/>
            <a:ext cx="1188720" cy="365760"/>
          </a:xfrm>
          <a:prstGeom prst="rect">
            <a:avLst/>
          </a:prstGeom>
          <a:solidFill>
            <a:srgbClr val="E6F9EE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834640" y="170992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</a:rPr>
              <a:t>6.901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023360" y="1709928"/>
            <a:ext cx="1188720" cy="365760"/>
          </a:xfrm>
          <a:prstGeom prst="rect">
            <a:avLst/>
          </a:prstGeom>
          <a:solidFill>
            <a:srgbClr val="E6F9EE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023360" y="170992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</a:rPr>
              <a:t>4.342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212080" y="1709928"/>
            <a:ext cx="1645920" cy="365760"/>
          </a:xfrm>
          <a:prstGeom prst="rect">
            <a:avLst/>
          </a:prstGeom>
          <a:solidFill>
            <a:srgbClr val="E6F9EE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212080" y="170992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</a:rPr>
              <a:t>0.9203 (92%)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858000" y="1709928"/>
            <a:ext cx="1371600" cy="365760"/>
          </a:xfrm>
          <a:prstGeom prst="rect">
            <a:avLst/>
          </a:prstGeom>
          <a:solidFill>
            <a:srgbClr val="E6F9EE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858000" y="170992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</a:rPr>
              <a:t>✅ Excellent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74320" y="2148840"/>
            <a:ext cx="8595360" cy="777240"/>
          </a:xfrm>
          <a:prstGeom prst="rect">
            <a:avLst/>
          </a:prstGeom>
          <a:solidFill>
            <a:srgbClr val="FFF7ED"/>
          </a:solidFill>
          <a:ln w="12700">
            <a:solidFill>
              <a:srgbClr val="F4A1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57200" y="22128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</a:rPr>
              <a:t>Statistical Test: Independent t-test (Linear vs Random Forest)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57200" y="24871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t-statistic = 0.6629   |   p-value = 0.507   |   Result: p &gt; 0.05 → No significant difference between Linear &amp; Ridge  →  Both perform equally poorly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74320" y="3063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Feature Importance (Random Forest)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1508760" y="3502152"/>
            <a:ext cx="685800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1508760" y="3502152"/>
            <a:ext cx="2071116" cy="12801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74320" y="34747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FUEL TYPE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503920" y="34747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5A82"/>
                </a:solidFill>
              </a:rPr>
              <a:t>30.2%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508760" y="3685032"/>
            <a:ext cx="685800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1508760" y="3685032"/>
            <a:ext cx="1858518" cy="12801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274320" y="365760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MONTH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503920" y="36576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7293"/>
                </a:solidFill>
              </a:rPr>
              <a:t>27.1%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508760" y="3867912"/>
            <a:ext cx="685800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1508760" y="3867912"/>
            <a:ext cx="795528" cy="12801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274320" y="384048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YEAR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503920" y="3840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</a:rPr>
              <a:t>11.6%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1508760" y="4050792"/>
            <a:ext cx="685800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1508760" y="4050792"/>
            <a:ext cx="747522" cy="128016"/>
          </a:xfrm>
          <a:prstGeom prst="rect">
            <a:avLst/>
          </a:prstGeom>
          <a:solidFill>
            <a:srgbClr val="F4A127"/>
          </a:solidFill>
          <a:ln w="12700">
            <a:solidFill>
              <a:srgbClr val="F4A1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274320" y="402336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REGION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8503920" y="402336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A127"/>
                </a:solidFill>
              </a:rPr>
              <a:t>10.9%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1508760" y="4233672"/>
            <a:ext cx="685800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1508760" y="4233672"/>
            <a:ext cx="459486" cy="12801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274320" y="42062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BRAND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8503920" y="42062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</a:rPr>
              <a:t>6.7%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1508760" y="4416552"/>
            <a:ext cx="685800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1508760" y="4416552"/>
            <a:ext cx="418338" cy="1280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274320" y="43891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DAY OF WEEK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8503920" y="43891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</a:rPr>
              <a:t>6.1%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1508760" y="4599432"/>
            <a:ext cx="685800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1508760" y="4599432"/>
            <a:ext cx="377190" cy="12801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274320" y="457200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DAY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8503920" y="45720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5.5%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1508760" y="4782312"/>
            <a:ext cx="685800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1508760" y="4782312"/>
            <a:ext cx="130302" cy="1280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274320" y="475488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QUARTER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8503920" y="47548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</a:rPr>
              <a:t>1.9%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PRT564 Data Analytics &amp; Visualisation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127"/>
          </a:solidFill>
          <a:ln w="12700">
            <a:solidFill>
              <a:srgbClr val="F4A1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Limitations &amp; 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474720"/>
          </a:xfrm>
          <a:prstGeom prst="rect">
            <a:avLst/>
          </a:prstGeom>
          <a:solidFill>
            <a:srgbClr val="1E2761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127"/>
                </a:solidFill>
              </a:rPr>
              <a:t>⚠  Limitations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</a:rPr>
              <a:t>Dataset limited to Western Australia only — may not generalise nationally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8470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</a:rPr>
              <a:t>No external features used (crude oil prices, AUD exchange rate, inflation)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23113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</a:rPr>
              <a:t>2026 price spike may represent data anomaly affecting model training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61518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</a:rPr>
              <a:t>Random Forest is less interpretable than linear models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9992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</a:rPr>
              <a:t>Real-time prediction would require live data pipeline integration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914400"/>
            <a:ext cx="4114800" cy="3474720"/>
          </a:xfrm>
          <a:prstGeom prst="rect">
            <a:avLst/>
          </a:prstGeom>
          <a:solidFill>
            <a:srgbClr val="1E2761"/>
          </a:solidFill>
          <a:ln w="12700">
            <a:solidFill>
              <a:srgbClr val="F4A1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127"/>
                </a:solidFill>
              </a:rPr>
              <a:t>✅  Conclusion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4630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</a:rPr>
              <a:t>Random Forest achieved 92% accuracy — best model for fuel price prediction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18470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</a:rPr>
              <a:t>Fuel type &amp; month are the strongest price predictors (57% combined importance)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223113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</a:rPr>
              <a:t>EDA confirmed the well-known Australian weekly fuel price cycle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261518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</a:rPr>
              <a:t>Regional pricing inequity identified: remote communities pay 34c/L more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29992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</a:rPr>
              <a:t>Future work: integrate global oil prices and real-time prediction pipeline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4572000"/>
            <a:ext cx="8595360" cy="320040"/>
          </a:xfrm>
          <a:prstGeom prst="rect">
            <a:avLst/>
          </a:prstGeom>
          <a:solidFill>
            <a:srgbClr val="F4A127"/>
          </a:solidFill>
          <a:ln w="12700">
            <a:solidFill>
              <a:srgbClr val="F4A1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45720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Thank You  |  Questions Welcome  |  PRT564 Assessment 2 — CDU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2356</TotalTime>
  <Words>780</Words>
  <Application>Microsoft Office PowerPoint</Application>
  <PresentationFormat>On-screen Show (16:9)</PresentationFormat>
  <Paragraphs>160</Paragraphs>
  <Slides>13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FuelWatch WA Price Analysis</dc:title>
  <dc:subject>PptxGenJS Presentation</dc:subject>
  <dc:creator>PptxGenJS</dc:creator>
  <cp:lastModifiedBy>Anasua Mazumder</cp:lastModifiedBy>
  <cp:revision>3</cp:revision>
  <dcterms:created xsi:type="dcterms:W3CDTF">2026-04-19T01:48:52Z</dcterms:created>
  <dcterms:modified xsi:type="dcterms:W3CDTF">2026-04-22T02:31:57Z</dcterms:modified>
</cp:coreProperties>
</file>